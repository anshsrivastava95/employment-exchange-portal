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mfortaa Bold" panose="020B0604020202020204" charset="0"/>
      <p:regular r:id="rId13"/>
    </p:embeddedFont>
    <p:embeddedFont>
      <p:font typeface="Raleway Bold" panose="020B0604020202020204" charset="0"/>
      <p:regular r:id="rId14"/>
    </p:embeddedFont>
    <p:embeddedFont>
      <p:font typeface="Raleway Medium" panose="020F0502020204030204" pitchFamily="2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128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885006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SmartMatch ML Network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0023" y="1622227"/>
            <a:ext cx="80639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Bidirectional Talent-to-Requisition Vector Mapping Engine with Multi-Platform Ingestion &amp; Cryptographic Security Shielding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0023" y="2328118"/>
            <a:ext cx="8063954" cy="19050"/>
          </a:xfrm>
          <a:prstGeom prst="roundRect">
            <a:avLst>
              <a:gd name="adj" fmla="val 60000"/>
            </a:avLst>
          </a:prstGeom>
          <a:solidFill>
            <a:srgbClr val="D7D4CC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0023" y="2713509"/>
            <a:ext cx="38437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Developer Node(s)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0023" y="3082082"/>
            <a:ext cx="430098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[Your Name / Group Members]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64956" y="2713509"/>
            <a:ext cx="38437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Submission Date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64956" y="3082082"/>
            <a:ext cx="430098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July 7,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0023" y="3641378"/>
            <a:ext cx="8063954" cy="617116"/>
          </a:xfrm>
          <a:prstGeom prst="roundRect">
            <a:avLst>
              <a:gd name="adj" fmla="val 37506"/>
            </a:avLst>
          </a:prstGeom>
          <a:solidFill>
            <a:srgbClr val="806A00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83" y="3861122"/>
            <a:ext cx="192881" cy="1542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41425" y="3834185"/>
            <a:ext cx="7865492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r>
              <a:rPr lang="en-US" sz="12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Production Source Repository: [Insert Your GitHub Link Here]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69023" y="430411"/>
            <a:ext cx="1422722" cy="260152"/>
          </a:xfrm>
          <a:prstGeom prst="roundRect">
            <a:avLst>
              <a:gd name="adj" fmla="val 65616"/>
            </a:avLst>
          </a:prstGeom>
          <a:solidFill>
            <a:srgbClr val="4D4000"/>
          </a:solidFill>
          <a:ln/>
        </p:spPr>
      </p:sp>
      <p:sp>
        <p:nvSpPr>
          <p:cNvPr id="4" name="Text 1"/>
          <p:cNvSpPr/>
          <p:nvPr/>
        </p:nvSpPr>
        <p:spPr>
          <a:xfrm>
            <a:off x="4054301" y="473050"/>
            <a:ext cx="1709365" cy="174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PROBLEM &amp; SOLUTION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69023" y="742950"/>
            <a:ext cx="4634954" cy="395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The Industry Deficit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3969023" y="1465883"/>
            <a:ext cx="2143944" cy="399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r>
              <a:rPr lang="en-US" sz="12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Why Current Systems Fail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969023" y="1996901"/>
            <a:ext cx="2143944" cy="2670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8000"/>
              </a:lnSpc>
              <a:buSzPct val="100000"/>
              <a:buChar char="•"/>
            </a:pPr>
            <a:r>
              <a:rPr lang="en-US" sz="11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The Cosine Similarity Trap:</a:t>
            </a: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Rigid bidirectional string comparisons penalize candidates for possessing additional unrequested skills.</a:t>
            </a:r>
            <a:endParaRPr lang="en-US" sz="1100" dirty="0"/>
          </a:p>
          <a:p>
            <a:pPr marL="223520" indent="-223520" algn="l">
              <a:lnSpc>
                <a:spcPct val="128000"/>
              </a:lnSpc>
              <a:buSzPct val="100000"/>
              <a:buChar char="•"/>
            </a:pPr>
            <a:r>
              <a:rPr lang="en-US" sz="11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Algorithmic Noise:</a:t>
            </a: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Recruiter feeds are clogged with inaccurate matching percentages; candidates get flat keyword-stuffed suggestions.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64796" y="1465883"/>
            <a:ext cx="2143944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The SmartMatch Solution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64796" y="1794570"/>
            <a:ext cx="2143944" cy="2086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 localized Machine Learning recommendation system executing asymmetric, directional data sorting.</a:t>
            </a:r>
            <a:endParaRPr lang="en-US" sz="11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Dual-Sided Optimization:</a:t>
            </a: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Dynamically transforms raw experience, profile text, and job descriptions into semantic matching indices on the fly.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1469231"/>
            <a:ext cx="848246" cy="29006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</p:sp>
      <p:sp>
        <p:nvSpPr>
          <p:cNvPr id="3" name="Text 1"/>
          <p:cNvSpPr/>
          <p:nvPr/>
        </p:nvSpPr>
        <p:spPr>
          <a:xfrm>
            <a:off x="632594" y="1515517"/>
            <a:ext cx="1120304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DEEP TECH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1820987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The Machine Learning Engine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0023" y="2481039"/>
            <a:ext cx="80639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The platform utilizes </a:t>
            </a:r>
            <a:r>
              <a:rPr lang="en-US" sz="12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Term Frequency-Inverse Document Frequency (TF-IDF)</a:t>
            </a: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parsing mechanics directly within the server runtime loop to calculate non-linear intersection weight vectors: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0023" y="3170113"/>
            <a:ext cx="8063954" cy="504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3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3" y="3170113"/>
            <a:ext cx="8063954" cy="5040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432420"/>
            <a:ext cx="929060" cy="153219"/>
          </a:xfrm>
          <a:prstGeom prst="roundRect">
            <a:avLst>
              <a:gd name="adj" fmla="val 73643"/>
            </a:avLst>
          </a:prstGeom>
          <a:solidFill>
            <a:srgbClr val="4D4000"/>
          </a:solidFill>
          <a:ln/>
        </p:spPr>
      </p:sp>
      <p:sp>
        <p:nvSpPr>
          <p:cNvPr id="3" name="Text 1"/>
          <p:cNvSpPr/>
          <p:nvPr/>
        </p:nvSpPr>
        <p:spPr>
          <a:xfrm>
            <a:off x="596429" y="460623"/>
            <a:ext cx="1273448" cy="96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PROCESSING PIPELINE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540023" y="608558"/>
            <a:ext cx="8063954" cy="26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Micro-Algorithmic Processing Steps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12" y="955700"/>
            <a:ext cx="7997503" cy="344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1348" y="3763013"/>
            <a:ext cx="1612774" cy="20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Directional Rules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11348" y="2964690"/>
            <a:ext cx="2083628" cy="20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Boundary Normalization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1348" y="2174431"/>
            <a:ext cx="2056286" cy="20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Vectorization Tokenizing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11348" y="1376108"/>
            <a:ext cx="1711052" cy="20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Corpus Aggregation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0023" y="4468862"/>
            <a:ext cx="8063954" cy="242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Combines skills arrays, experience summaries, and descriptions into text blocks; extracts semantic density weights; rescales TF-IDF frequencies into 0–100% boundary scores; injects automated experience penalization heuristics to protect real-world hiring thresholds.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0023" y="504676"/>
            <a:ext cx="1177454" cy="248617"/>
          </a:xfrm>
          <a:prstGeom prst="roundRect">
            <a:avLst>
              <a:gd name="adj" fmla="val 66332"/>
            </a:avLst>
          </a:prstGeom>
          <a:solidFill>
            <a:srgbClr val="4D4000"/>
          </a:solidFill>
          <a:ln/>
        </p:spPr>
      </p:sp>
      <p:sp>
        <p:nvSpPr>
          <p:cNvPr id="4" name="Text 1"/>
          <p:cNvSpPr/>
          <p:nvPr/>
        </p:nvSpPr>
        <p:spPr>
          <a:xfrm>
            <a:off x="622474" y="545902"/>
            <a:ext cx="1469752" cy="166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SYSTEM FEATURES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40023" y="802184"/>
            <a:ext cx="4634954" cy="381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Interoperability Hub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0023" y="1367507"/>
            <a:ext cx="2256309" cy="1981646"/>
          </a:xfrm>
          <a:prstGeom prst="roundRect">
            <a:avLst>
              <a:gd name="adj" fmla="val 10403"/>
            </a:avLst>
          </a:prstGeom>
          <a:solidFill>
            <a:srgbClr val="46464A"/>
          </a:solidFill>
          <a:ln/>
        </p:spPr>
      </p:sp>
      <p:sp>
        <p:nvSpPr>
          <p:cNvPr id="7" name="Text 4"/>
          <p:cNvSpPr/>
          <p:nvPr/>
        </p:nvSpPr>
        <p:spPr>
          <a:xfrm>
            <a:off x="677391" y="1504876"/>
            <a:ext cx="1981572" cy="386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🛡️</a:t>
            </a: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Cryptographic Security Node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7391" y="1964754"/>
            <a:ext cx="1981572" cy="124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Implements Time-based One-Time Passwords (TOTP) via secret hashing logic. Integrates native dynamic QR Code streams for complete Multi-Factor (2FA) login gating.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18668" y="1367507"/>
            <a:ext cx="2256309" cy="1981646"/>
          </a:xfrm>
          <a:prstGeom prst="roundRect">
            <a:avLst>
              <a:gd name="adj" fmla="val 10403"/>
            </a:avLst>
          </a:prstGeom>
          <a:solidFill>
            <a:srgbClr val="46464A"/>
          </a:solidFill>
          <a:ln/>
        </p:spPr>
      </p:sp>
      <p:sp>
        <p:nvSpPr>
          <p:cNvPr id="10" name="Text 7"/>
          <p:cNvSpPr/>
          <p:nvPr/>
        </p:nvSpPr>
        <p:spPr>
          <a:xfrm>
            <a:off x="3056037" y="1504876"/>
            <a:ext cx="1981572" cy="386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Multi-Website Aggregator Pipeline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056037" y="1964754"/>
            <a:ext cx="1981572" cy="124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Simulates automated data ingestion across major hiring indexes — LinkedIn, Indeed, ZipRecruiter. Normalizes mixed external data into localized schemas instantly.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0023" y="3471490"/>
            <a:ext cx="4634954" cy="1167259"/>
          </a:xfrm>
          <a:prstGeom prst="roundRect">
            <a:avLst>
              <a:gd name="adj" fmla="val 17660"/>
            </a:avLst>
          </a:prstGeom>
          <a:solidFill>
            <a:srgbClr val="46464A"/>
          </a:solidFill>
          <a:ln/>
        </p:spPr>
      </p:sp>
      <p:sp>
        <p:nvSpPr>
          <p:cNvPr id="13" name="Text 10"/>
          <p:cNvSpPr/>
          <p:nvPr/>
        </p:nvSpPr>
        <p:spPr>
          <a:xfrm>
            <a:off x="677391" y="3608859"/>
            <a:ext cx="4360218" cy="19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📡</a:t>
            </a:r>
            <a:r>
              <a:rPr lang="en-US" sz="12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Outbound Syndication Feed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77391" y="3877866"/>
            <a:ext cx="4360218" cy="623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Exposes public JSON and RSS broadcast channels directly from the internal database. Enables external index aggregators to consume platform job vacancies programmatically.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456307"/>
            <a:ext cx="1302618" cy="254347"/>
          </a:xfrm>
          <a:prstGeom prst="roundRect">
            <a:avLst>
              <a:gd name="adj" fmla="val 65975"/>
            </a:avLst>
          </a:prstGeom>
          <a:solidFill>
            <a:srgbClr val="4D4000"/>
          </a:solidFill>
          <a:ln/>
        </p:spPr>
      </p:sp>
      <p:sp>
        <p:nvSpPr>
          <p:cNvPr id="3" name="Text 1"/>
          <p:cNvSpPr/>
          <p:nvPr/>
        </p:nvSpPr>
        <p:spPr>
          <a:xfrm>
            <a:off x="623888" y="498202"/>
            <a:ext cx="1592089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TECHNOLOGY STACK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0023" y="761330"/>
            <a:ext cx="8063954" cy="388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Engineering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0023" y="1339825"/>
            <a:ext cx="8063954" cy="3347368"/>
          </a:xfrm>
          <a:prstGeom prst="roundRect">
            <a:avLst>
              <a:gd name="adj" fmla="val 6266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4860" y="1344588"/>
            <a:ext cx="2013570" cy="377056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7" name="Text 5"/>
          <p:cNvSpPr/>
          <p:nvPr/>
        </p:nvSpPr>
        <p:spPr>
          <a:xfrm>
            <a:off x="684684" y="1425327"/>
            <a:ext cx="2191122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Architecture Layer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58430" y="1344588"/>
            <a:ext cx="2416299" cy="377056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9" name="Text 7"/>
          <p:cNvSpPr/>
          <p:nvPr/>
        </p:nvSpPr>
        <p:spPr>
          <a:xfrm>
            <a:off x="2698254" y="1425327"/>
            <a:ext cx="2593851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Core Technology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74729" y="1344588"/>
            <a:ext cx="3624486" cy="377056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1" name="Text 9"/>
          <p:cNvSpPr/>
          <p:nvPr/>
        </p:nvSpPr>
        <p:spPr>
          <a:xfrm>
            <a:off x="5114553" y="1425327"/>
            <a:ext cx="3802038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Functionality Scope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4684" y="1804764"/>
            <a:ext cx="2191122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Frontend Framework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8254" y="1804764"/>
            <a:ext cx="2593851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React.js &amp; Tailwind CSS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14553" y="1804764"/>
            <a:ext cx="3344838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Real-time interactive UI dashboards with zero-latency state rendering.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4684" y="2397398"/>
            <a:ext cx="2191122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Application Server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98254" y="2397398"/>
            <a:ext cx="2593851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Node.js (Express Framework)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14553" y="2397398"/>
            <a:ext cx="3344838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Centralized asynchronous event handling loop managing API routing.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4684" y="2990031"/>
            <a:ext cx="2191122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Database Engine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98254" y="2990031"/>
            <a:ext cx="2593851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MongoDB &amp; Mongoose ODM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14553" y="2990031"/>
            <a:ext cx="3344838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Document-oriented storage handling structured data schemas.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4684" y="3582665"/>
            <a:ext cx="2191122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NLP / ML Library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8254" y="3582665"/>
            <a:ext cx="2593851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natural JS Module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14553" y="3582665"/>
            <a:ext cx="3344838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On-the-fly TF-IDF text vector analysis without external microservice dependencies.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4684" y="4175299"/>
            <a:ext cx="2191122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Security Layer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98254" y="4175299"/>
            <a:ext cx="2593851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speakeasy &amp; qrcode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14553" y="4175299"/>
            <a:ext cx="3344838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Cryptographic secret verification loops guarding user profiles.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0023" y="451098"/>
            <a:ext cx="710505" cy="231651"/>
          </a:xfrm>
          <a:prstGeom prst="roundRect">
            <a:avLst>
              <a:gd name="adj" fmla="val 67444"/>
            </a:avLst>
          </a:prstGeom>
          <a:solidFill>
            <a:srgbClr val="4D4000"/>
          </a:solidFill>
          <a:ln/>
        </p:spPr>
      </p:sp>
      <p:sp>
        <p:nvSpPr>
          <p:cNvPr id="4" name="Text 1"/>
          <p:cNvSpPr/>
          <p:nvPr/>
        </p:nvSpPr>
        <p:spPr>
          <a:xfrm>
            <a:off x="618083" y="490091"/>
            <a:ext cx="1011585" cy="153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LIVE DEMO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40023" y="726653"/>
            <a:ext cx="4634954" cy="361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5-Minute Demo Strategy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686470" y="1253058"/>
            <a:ext cx="14288" cy="2465933"/>
          </a:xfrm>
          <a:prstGeom prst="roundRect">
            <a:avLst>
              <a:gd name="adj" fmla="val 1366828"/>
            </a:avLst>
          </a:prstGeom>
          <a:solidFill>
            <a:srgbClr val="5F5F63"/>
          </a:solidFill>
          <a:ln/>
        </p:spPr>
      </p:sp>
      <p:sp>
        <p:nvSpPr>
          <p:cNvPr id="7" name="Shape 4"/>
          <p:cNvSpPr/>
          <p:nvPr/>
        </p:nvSpPr>
        <p:spPr>
          <a:xfrm>
            <a:off x="818629" y="1392362"/>
            <a:ext cx="390525" cy="14288"/>
          </a:xfrm>
          <a:prstGeom prst="roundRect">
            <a:avLst>
              <a:gd name="adj" fmla="val 1366828"/>
            </a:avLst>
          </a:prstGeom>
          <a:solidFill>
            <a:srgbClr val="5F5F63"/>
          </a:solidFill>
          <a:ln/>
        </p:spPr>
      </p:sp>
      <p:sp>
        <p:nvSpPr>
          <p:cNvPr id="8" name="Shape 5"/>
          <p:cNvSpPr/>
          <p:nvPr/>
        </p:nvSpPr>
        <p:spPr>
          <a:xfrm>
            <a:off x="540023" y="1253058"/>
            <a:ext cx="292894" cy="292894"/>
          </a:xfrm>
          <a:prstGeom prst="ellipse">
            <a:avLst/>
          </a:prstGeom>
          <a:solidFill>
            <a:srgbClr val="46464A"/>
          </a:solidFill>
          <a:ln/>
        </p:spPr>
      </p:sp>
      <p:sp>
        <p:nvSpPr>
          <p:cNvPr id="9" name="Text 6"/>
          <p:cNvSpPr/>
          <p:nvPr/>
        </p:nvSpPr>
        <p:spPr>
          <a:xfrm>
            <a:off x="599703" y="1291010"/>
            <a:ext cx="173534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337444" y="1297781"/>
            <a:ext cx="3837533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0:00 – 1:30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337444" y="1544464"/>
            <a:ext cx="3837533" cy="384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Security Onboarding — Create Candidate &amp; Poster accounts + Set up 2FA via QR Code.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18629" y="2287563"/>
            <a:ext cx="390525" cy="14288"/>
          </a:xfrm>
          <a:prstGeom prst="roundRect">
            <a:avLst>
              <a:gd name="adj" fmla="val 1366828"/>
            </a:avLst>
          </a:prstGeom>
          <a:solidFill>
            <a:srgbClr val="5F5F63"/>
          </a:solidFill>
          <a:ln/>
        </p:spPr>
      </p:sp>
      <p:sp>
        <p:nvSpPr>
          <p:cNvPr id="13" name="Shape 10"/>
          <p:cNvSpPr/>
          <p:nvPr/>
        </p:nvSpPr>
        <p:spPr>
          <a:xfrm>
            <a:off x="540023" y="2148260"/>
            <a:ext cx="292894" cy="292894"/>
          </a:xfrm>
          <a:prstGeom prst="ellipse">
            <a:avLst/>
          </a:prstGeom>
          <a:solidFill>
            <a:srgbClr val="46464A"/>
          </a:solidFill>
          <a:ln/>
        </p:spPr>
      </p:sp>
      <p:sp>
        <p:nvSpPr>
          <p:cNvPr id="14" name="Text 11"/>
          <p:cNvSpPr/>
          <p:nvPr/>
        </p:nvSpPr>
        <p:spPr>
          <a:xfrm>
            <a:off x="599703" y="2186211"/>
            <a:ext cx="173534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2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337444" y="2192982"/>
            <a:ext cx="3837533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1:30 – 3:15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337444" y="2439665"/>
            <a:ext cx="3837533" cy="384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Recruiter View — Post job, simulate external aggregation mining, run ML matching.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18629" y="3182764"/>
            <a:ext cx="390525" cy="14288"/>
          </a:xfrm>
          <a:prstGeom prst="roundRect">
            <a:avLst>
              <a:gd name="adj" fmla="val 1366828"/>
            </a:avLst>
          </a:prstGeom>
          <a:solidFill>
            <a:srgbClr val="5F5F63"/>
          </a:solidFill>
          <a:ln/>
        </p:spPr>
      </p:sp>
      <p:sp>
        <p:nvSpPr>
          <p:cNvPr id="18" name="Shape 15"/>
          <p:cNvSpPr/>
          <p:nvPr/>
        </p:nvSpPr>
        <p:spPr>
          <a:xfrm>
            <a:off x="540023" y="3043461"/>
            <a:ext cx="292894" cy="292894"/>
          </a:xfrm>
          <a:prstGeom prst="ellipse">
            <a:avLst/>
          </a:prstGeom>
          <a:solidFill>
            <a:srgbClr val="46464A"/>
          </a:solidFill>
          <a:ln/>
        </p:spPr>
      </p:sp>
      <p:sp>
        <p:nvSpPr>
          <p:cNvPr id="19" name="Text 16"/>
          <p:cNvSpPr/>
          <p:nvPr/>
        </p:nvSpPr>
        <p:spPr>
          <a:xfrm>
            <a:off x="599703" y="3081412"/>
            <a:ext cx="173534" cy="216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337444" y="3088184"/>
            <a:ext cx="3837533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3:15 – 5:00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37444" y="3334866"/>
            <a:ext cx="3837533" cy="384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Candidate Dashboard — Load profile, instantly view optimal matching percentage list.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0023" y="3842519"/>
            <a:ext cx="4634954" cy="849883"/>
          </a:xfrm>
          <a:prstGeom prst="roundRect">
            <a:avLst>
              <a:gd name="adj" fmla="val 22979"/>
            </a:avLst>
          </a:prstGeom>
          <a:solidFill>
            <a:srgbClr val="183A13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73" y="4019848"/>
            <a:ext cx="162744" cy="13015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63067" y="3984873"/>
            <a:ext cx="4081760" cy="576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If a candidate adds a skill not required by the job, the match percentage stays at a perfect 100% — proving our directional ML adjustment works as intended.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1275904"/>
            <a:ext cx="876821" cy="29006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</p:sp>
      <p:sp>
        <p:nvSpPr>
          <p:cNvPr id="3" name="Text 1"/>
          <p:cNvSpPr/>
          <p:nvPr/>
        </p:nvSpPr>
        <p:spPr>
          <a:xfrm>
            <a:off x="632594" y="1322189"/>
            <a:ext cx="1148879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OUTCOMES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1627659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Measurable Project Outcomes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0023" y="2364804"/>
            <a:ext cx="3935537" cy="509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100%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0023" y="3066827"/>
            <a:ext cx="393553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Functionality Complete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0023" y="3373710"/>
            <a:ext cx="3935537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Database integration, ML calculations, and 2FA components are fully operational.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8441" y="2364804"/>
            <a:ext cx="3935537" cy="509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100%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68441" y="3066827"/>
            <a:ext cx="393553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Code Integrity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68441" y="3373710"/>
            <a:ext cx="3935537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Clean, open-source codebase published directly to GitHub with absolute environmental isolation.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69023" y="438373"/>
            <a:ext cx="1186904" cy="283964"/>
          </a:xfrm>
          <a:prstGeom prst="roundRect">
            <a:avLst>
              <a:gd name="adj" fmla="val 64189"/>
            </a:avLst>
          </a:prstGeom>
          <a:solidFill>
            <a:srgbClr val="4D4000"/>
          </a:solidFill>
          <a:ln/>
        </p:spPr>
      </p:sp>
      <p:sp>
        <p:nvSpPr>
          <p:cNvPr id="4" name="Text 1"/>
          <p:cNvSpPr/>
          <p:nvPr/>
        </p:nvSpPr>
        <p:spPr>
          <a:xfrm>
            <a:off x="4060106" y="483915"/>
            <a:ext cx="146193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KEY INNOVATION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3969023" y="782092"/>
            <a:ext cx="4634954" cy="843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Directional ML: The Core Differentiator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3969023" y="1984697"/>
            <a:ext cx="2132186" cy="2545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Traditional systems use </a:t>
            </a:r>
            <a:r>
              <a:rPr lang="en-US" sz="11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symmetric</a:t>
            </a: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matching — penalizing candidates for having extra skills the job didn't request.</a:t>
            </a:r>
            <a:endParaRPr lang="en-US" sz="11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SmartMatch's </a:t>
            </a:r>
            <a:r>
              <a:rPr lang="en-US" sz="11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asymmetric, directional</a:t>
            </a: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approach ensures additional candidate skills never reduce the match score.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476554" y="2018333"/>
            <a:ext cx="2132186" cy="1184523"/>
          </a:xfrm>
          <a:prstGeom prst="roundRect">
            <a:avLst>
              <a:gd name="adj" fmla="val 19235"/>
            </a:avLst>
          </a:prstGeom>
          <a:solidFill>
            <a:srgbClr val="27272B"/>
          </a:solidFill>
          <a:ln w="19050">
            <a:solidFill>
              <a:srgbClr val="5F5F6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47483" y="2189262"/>
            <a:ext cx="1790328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Legacy Systems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47483" y="2549723"/>
            <a:ext cx="1790328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Extra skills → lower match %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76554" y="3352354"/>
            <a:ext cx="2132186" cy="1184523"/>
          </a:xfrm>
          <a:prstGeom prst="roundRect">
            <a:avLst>
              <a:gd name="adj" fmla="val 19235"/>
            </a:avLst>
          </a:prstGeom>
          <a:solidFill>
            <a:srgbClr val="27272B"/>
          </a:solidFill>
          <a:ln w="19050">
            <a:solidFill>
              <a:srgbClr val="5F5F6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47483" y="3523283"/>
            <a:ext cx="1790328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SmartMatch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47483" y="3883744"/>
            <a:ext cx="1790328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Extra skills → 100% preserved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69023" y="426095"/>
            <a:ext cx="595089" cy="193551"/>
          </a:xfrm>
          <a:prstGeom prst="roundRect">
            <a:avLst>
              <a:gd name="adj" fmla="val 70256"/>
            </a:avLst>
          </a:prstGeom>
          <a:solidFill>
            <a:srgbClr val="4D4000"/>
          </a:solidFill>
          <a:ln/>
        </p:spPr>
      </p:sp>
      <p:sp>
        <p:nvSpPr>
          <p:cNvPr id="4" name="Text 1"/>
          <p:cNvSpPr/>
          <p:nvPr/>
        </p:nvSpPr>
        <p:spPr>
          <a:xfrm>
            <a:off x="4036963" y="460028"/>
            <a:ext cx="916409" cy="12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SUMMARY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969023" y="652909"/>
            <a:ext cx="4634954" cy="314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SmartMatch ML Network</a:t>
            </a:r>
            <a:endParaRPr lang="en-US" sz="1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372" y="1092473"/>
            <a:ext cx="3574256" cy="30596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66658" y="2019241"/>
            <a:ext cx="1424217" cy="15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Asymmetric ML Match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6661148" y="1915098"/>
            <a:ext cx="1200712" cy="15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Cryptographic 2FA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6066918" y="3272024"/>
            <a:ext cx="1041434" cy="30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Multi‑Platform Aggregation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3969023" y="4245694"/>
            <a:ext cx="4634954" cy="471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 unified hiring intelligence platform combining directional TF-IDF matching, TOTP-based cryptographic security, and multi-website data ingestion — redefining how talent connects with opportunity.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624</Words>
  <Application>Microsoft Office PowerPoint</Application>
  <PresentationFormat>On-screen Show (16:9)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Comfortaa Bold</vt:lpstr>
      <vt:lpstr>Raleway Medium</vt:lpstr>
      <vt:lpstr>Twemoji Mozilla</vt:lpstr>
      <vt:lpstr>Raleway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Ansh Srivastava</cp:lastModifiedBy>
  <cp:revision>1</cp:revision>
  <dcterms:created xsi:type="dcterms:W3CDTF">2026-07-07T10:03:51Z</dcterms:created>
  <dcterms:modified xsi:type="dcterms:W3CDTF">2026-07-07T10:06:24Z</dcterms:modified>
</cp:coreProperties>
</file>